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Arial"/>
              </a:defRPr>
            </a:pPr>
            <a:r>
              <a:t>ClipMind AI</a:t>
            </a:r>
          </a:p>
          <a:p>
            <a:pPr algn="ctr">
              <a:spcBef>
                <a:spcPts val="1200"/>
              </a:spcBef>
              <a:defRPr sz="2200" b="1">
                <a:solidFill>
                  <a:srgbClr val="818CF8"/>
                </a:solidFill>
                <a:latin typeface="Arial"/>
              </a:defRPr>
            </a:pPr>
            <a:r>
              <a:t>Interactive Video Insights &amp; Lifecycle Analytics Platform</a:t>
            </a:r>
          </a:p>
          <a:p>
            <a:pPr algn="ctr">
              <a:spcBef>
                <a:spcPts val="2400"/>
              </a:spcBef>
              <a:defRPr sz="1600">
                <a:solidFill>
                  <a:srgbClr val="CBD5E1"/>
                </a:solidFill>
                <a:latin typeface="Arial"/>
              </a:defRPr>
            </a:pPr>
            <a:r>
              <a:t>Milestones 1 - 3 Comprehensive Review</a:t>
            </a:r>
          </a:p>
          <a:p>
            <a:pPr algn="ctr">
              <a:spcBef>
                <a:spcPts val="45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Presenter: Veerla Sai Harshith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818CF8"/>
                </a:solidFill>
                <a:latin typeface="Arial"/>
              </a:defRPr>
            </a:pPr>
            <a:r>
              <a:t>Core Features &amp; Project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🔸 🔐 JWT Authentication &amp; RBAC Rules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Secures system endpoints and implements Role-Based Access Controls (Creator, Educator, Admin, and Learner with read-only views).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🔸 ⚡ Multi-Stream Video Ingestion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Supports local drag-and-drop video uploads (up to 50MB) and asynchronous YouTube link extraction via yt-dlp.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🔸 🎙️ Time-Aligned Transcription Timeline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Whisper transcribes speech into time-indexed sentence blocks. Clicking any line seeks the player directly to that time.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🔸 🤖 Two-Level Thematic AI Summarization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Generates cohesive short overview hooks and detailed bullet breakdowns parsed as structured JSON via Gemini.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🔸 🖼️ Visual Moments &amp; Seek Overlays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Extracts video frame JPEGs at highlight times, displaying interactive cards mapped with click-to-seek bindings.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818CF8"/>
                </a:solidFill>
                <a:latin typeface="Arial"/>
              </a:defRPr>
            </a:pPr>
            <a:r>
              <a:t>Role-Based Access Control (RBAC) Permissions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818CF8"/>
                </a:solidFill>
                <a:latin typeface="Arial"/>
              </a:defRPr>
            </a:pPr>
            <a:r>
              <a:t>🎥 Content Creator</a:t>
            </a:r>
          </a:p>
          <a:p>
            <a:pPr>
              <a:spcAft>
                <a:spcPts val="15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Purpose: Create and manage summarized content for audiences.</a:t>
            </a:r>
            <a:br/>
            <a:r>
              <a:t>• Upload videos, manage uploaded files, and access upload history.</a:t>
            </a:r>
            <a:br/>
            <a:r>
              <a:t>• Generate transcripts, AI summaries, and detect key highlights.</a:t>
            </a:r>
            <a:br/>
            <a:r>
              <a:t>• Download generated transcripts and summaries; view analytics.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700" b="1">
                <a:solidFill>
                  <a:srgbClr val="34D399"/>
                </a:solidFill>
                <a:latin typeface="Arial"/>
              </a:defRPr>
            </a:pPr>
            <a:r>
              <a:t>📚 Learner</a:t>
            </a:r>
          </a:p>
          <a:p>
            <a:pPr>
              <a:defRPr sz="1200">
                <a:solidFill>
                  <a:srgbClr val="CBD5E1"/>
                </a:solidFill>
                <a:latin typeface="Arial"/>
              </a:defRPr>
            </a:pPr>
            <a:r>
              <a:t>Purpose: Consume educational and informational content efficiently.</a:t>
            </a:r>
            <a:br/>
            <a:r>
              <a:t>• View uploaded videos, read summaries, and access time-aligned transcripts.</a:t>
            </a:r>
            <a:br/>
            <a:r>
              <a:t>• View key moments, timelines, and search transcripts in real-time.</a:t>
            </a:r>
            <a:br/>
            <a:r>
              <a:t>• Save learning history; bookmark summaries and highlights.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BBF24"/>
                </a:solidFill>
                <a:latin typeface="Arial"/>
              </a:defRPr>
            </a:pPr>
            <a:r>
              <a:t>🎓 Educator</a:t>
            </a:r>
          </a:p>
          <a:p>
            <a:pPr>
              <a:spcAft>
                <a:spcPts val="15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Purpose: Transform long educational content into concise resources.</a:t>
            </a:r>
            <a:br/>
            <a:r>
              <a:t>• Upload lecture videos and generate tailored educational summaries.</a:t>
            </a:r>
            <a:br/>
            <a:r>
              <a:t>• Review, edit transcripts, and share summaries with student lists.</a:t>
            </a:r>
            <a:br/>
            <a:r>
              <a:t>• Access classroom content analytics and monitor student engagement.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700" b="1">
                <a:solidFill>
                  <a:srgbClr val="F87171"/>
                </a:solidFill>
                <a:latin typeface="Arial"/>
              </a:defRPr>
            </a:pPr>
            <a:r>
              <a:t>🛡️ Administrator</a:t>
            </a:r>
          </a:p>
          <a:p>
            <a:pPr>
              <a:defRPr sz="1200">
                <a:solidFill>
                  <a:srgbClr val="CBD5E1"/>
                </a:solidFill>
                <a:latin typeface="Arial"/>
              </a:defRPr>
            </a:pPr>
            <a:r>
              <a:t>Purpose: Maintain platform operations, security, and performance.</a:t>
            </a:r>
            <a:br/>
            <a:r>
              <a:t>• Manage user roles, configure settings, and monitor platform activity.</a:t>
            </a:r>
            <a:br/>
            <a:r>
              <a:t>• Manage all uploaded content and view system analytics.</a:t>
            </a:r>
            <a:br/>
            <a:r>
              <a:t>• Monitor background AI tasks; manage disk storage and access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818CF8"/>
                </a:solidFill>
                <a:latin typeface="Arial"/>
              </a:defRPr>
            </a:pPr>
            <a:r>
              <a:t>API Architecture &amp; Connecting the Dots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Arial"/>
              </a:defRPr>
            </a:pPr>
            <a:r>
              <a:t>🔄 Backend Integration Flow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1. Ingestion POST request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POST /api/videos/upload or POST /api/videos/youtube creates a PostgreSQL record and launches the async worker.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2. Real-Time Status Polling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Next.js polls GET /api/videos/{id} to monitor the worker state (processing -&gt; transcribing -&gt; summarizing -&gt; completed).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3. Secured Range Streaming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HTML5 video player requests GET /api/videos/{id}/stream passing a JWT token parameter. Backend streams raw bytes with seeking support.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4. NoSQL Data Hydration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GET /api/videos/{id}/summary retrieves heavy transcripts, moment tags, and LLM text summaries from MongoDB.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4D399"/>
                </a:solidFill>
                <a:latin typeface="Arial"/>
              </a:defRPr>
            </a:pPr>
            <a:r>
              <a:t>📁 Polyglot Database Mapping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PostgreSQL (Relational)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Stores core users (roles, hashed passwords) and video indexing records (filename, status, upload time) linked via standard foreign key structures.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MongoDB (NoSQL Document Store)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Stores unstructured, heavy video data including: full raw speech transcripts, list of start/end time-aligned segments, executive/detailed summaries, and moments arrays.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OS Local Disk Storage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Stores physical uploaded videos, extracted MP3 audio, and frame-captured JPEG cover previews inside uploads/ directories.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818CF8"/>
                </a:solidFill>
                <a:latin typeface="Arial"/>
              </a:defRPr>
            </a:pPr>
            <a:r>
              <a:t>Special Feature: Whisper CUDA GPU Acceleration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FBBF24"/>
                </a:solidFill>
                <a:latin typeface="Arial"/>
              </a:defRPr>
            </a:pPr>
            <a:r>
              <a:t>🚀 ⚡ Long-Format Video Bottleneck Solution</a:t>
            </a:r>
          </a:p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Speech-to-Text is the heaviest part of the video pipeline. Transcribing long-format videos on CPUs is extremely slow and limits scalability.</a:t>
            </a:r>
          </a:p>
          <a:p>
            <a:pPr>
              <a:spcBef>
                <a:spcPts val="1200"/>
              </a:spcBef>
              <a:defRPr sz="1600" b="1">
                <a:solidFill>
                  <a:srgbClr val="FBBF24"/>
                </a:solidFill>
                <a:latin typeface="Arial"/>
              </a:defRPr>
            </a:pPr>
            <a:r>
              <a:t>🚀 🎮 CUDA GPU Auto-Detection</a:t>
            </a:r>
          </a:p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The backend worker dynamically queries PyTorch CUDA capabilities: 'device = "cuda" if torch.cuda.is_available() else "cpu"'. If an NVIDIA card is found, it offloads computing to the GPU.</a:t>
            </a:r>
          </a:p>
          <a:p>
            <a:pPr>
              <a:spcBef>
                <a:spcPts val="1200"/>
              </a:spcBef>
              <a:defRPr sz="1600" b="1">
                <a:solidFill>
                  <a:srgbClr val="FBBF24"/>
                </a:solidFill>
                <a:latin typeface="Arial"/>
              </a:defRPr>
            </a:pPr>
            <a:r>
              <a:t>🚀 🔬 FP16 (Float16) Precision Execution</a:t>
            </a:r>
          </a:p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When CUDA is active, it runs model.transcribe(..., fp16=True). This leverages GPU Tensor Cores, cutting memory bandwidth in half and increasing throughput dramatically.</a:t>
            </a:r>
          </a:p>
          <a:p>
            <a:pPr>
              <a:spcBef>
                <a:spcPts val="1200"/>
              </a:spcBef>
              <a:defRPr sz="1600" b="1">
                <a:solidFill>
                  <a:srgbClr val="FBBF24"/>
                </a:solidFill>
                <a:latin typeface="Arial"/>
              </a:defRPr>
            </a:pPr>
            <a:r>
              <a:t>🚀 📈 Speed Increase &amp; CPU Fallback</a:t>
            </a:r>
          </a:p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Accelerates transcription by 4x to 6x on laptop GPU (NVIDIA GeForce RTX 2050), while maintaining CPU compatibility so the code executes on any machine.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818CF8"/>
                </a:solidFill>
                <a:latin typeface="Arial"/>
              </a:defRPr>
            </a:pPr>
            <a:r>
              <a:t>YouTube Ingestion &amp; Browser Codec Fixes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🔹 📦 yt-dlp Video Stream Ingestion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Pasting a link triggers yt-dlp to download the video. It extracts the raw stream, ignores playlists, and stores the file as 'youtube_{id}.mp4'.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🔹 ⚙️ FFmpeg Binary Path Resolution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Since the server does not rely on system environment variables, we query the PyTorch bundle 'imageio_ffmpeg.get_ffmpeg_exe()' and pass it directly to yt-dlp to merge streams.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🔹 🔊 Browser Audio Codec Fix (Opus to AAC)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YouTube serves high-quality audio using the Opus codec, which HTML5 MP4 containers cannot decode in standard browsers. We force AAC transcoding during merging using: Merger: ['-c:a', 'aac'].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🔹 ⚡ Frontend Seek &amp; Auto-Unmute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React binds seekTo(seconds) to click callbacks. Programmatic play calls trigger browser mute guards; we bypass this by forcing video.muted = false on every seek event.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818CF8"/>
                </a:solidFill>
                <a:latin typeface="Arial"/>
              </a:defRPr>
            </a:pPr>
            <a:r>
              <a:t>Advanced Thematic Summaries (Gemini)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🔸 📜 Abstractive Redesign (Content Editor)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Prompts are configured to prevent literal copy-pasting, forcing Gemini to synthesize concepts in its own words and group points by themes instead of chronologically.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🔸 🛠️ Google API strict JSON Mode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Instantiates Gemini 2.5 Flash using response_mime_type='application/json' to guarantee the model output compiles cleanly without raw text or markdown ticks.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🔸 🚀 Double-Sided Parser Sanitizers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Wrote extract_json_from_text() to parse data even if proxies insert noise. If the AI returns bullet lists as an array, the backend joins them with newlines before saving.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🔸 🎨 Live Terminal Pipeline Status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Displays granular states in the dashboard sidebar: 'downloading', 'processing', 'transcribing', and 'summarizing', linked to color-coded pill indicators.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818CF8"/>
                </a:solidFill>
                <a:latin typeface="Arial"/>
              </a:defRPr>
            </a:pPr>
            <a:r>
              <a:t>Secure Multi-Database Deletion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18CF8"/>
                </a:solidFill>
                <a:latin typeface="Arial"/>
              </a:defRPr>
            </a:pPr>
            <a:r>
              <a:t>🔒 Security &amp; Cleanup Steps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1. Role Check Checkpoint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Restricts deletion to the video owner or platform Administrators. Returns HTTP 403 if checks fail.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2. Relational Record Erase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Deletes target SQL video row from PostgreSQL using SQLAlchemy session deletes.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3. MongoDB Document Erase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Deletes NoSQL transcription documents containing summaries, keywords, and word count.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4. Disk Asset Cleanup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Locates and deletes local physical assets: video (.mp4), audio (.mp3), and visual JPEG moment thumbnails.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1E293B"/>
          </a:solidFill>
        </p:spPr>
        <p:txBody>
          <a:bodyPr wrap="square" lIns="182880" tIns="182880">
            <a:spAutoFit/>
          </a:bodyPr>
          <a:lstStyle/>
          <a:p>
            <a:pPr>
              <a:defRPr sz="1250">
                <a:solidFill>
                  <a:srgbClr val="FFFFFF"/>
                </a:solidFill>
                <a:latin typeface="Consolas"/>
              </a:defRPr>
            </a:pPr>
            <a:r>
              <a:t># File: backend/api/videos.py</a:t>
            </a:r>
            <a:br/>
            <a:r>
              <a:t>video = db.query(Video).filter(Video.id == id).first()</a:t>
            </a:r>
            <a:br/>
            <a:r>
              <a:t>if video.owner_id != current_user.id and current_user.role != "Admin":</a:t>
            </a:r>
            <a:br/>
            <a:r>
              <a:t>    raise HTTPException(status_code=403)</a:t>
            </a:r>
            <a:br/>
            <a:br/>
            <a:r>
              <a:t># Clean disk</a:t>
            </a:r>
            <a:br/>
            <a:r>
              <a:t>os.remove(video_path)</a:t>
            </a:r>
            <a:br/>
            <a:r>
              <a:t>os.remove(audio_path)</a:t>
            </a:r>
            <a:br/>
            <a:r>
              <a:t>for t_file in glob(f"uploads/thumbnails/{id}_*.jpg"): </a:t>
            </a:r>
            <a:br/>
            <a:r>
              <a:t>    os.remove(t_file)</a:t>
            </a:r>
            <a:br/>
            <a:br/>
            <a:r>
              <a:t># Clean DBs</a:t>
            </a:r>
            <a:br/>
            <a:r>
              <a:t>mongo_db.delete_one({"video_id": id})</a:t>
            </a:r>
            <a:br/>
            <a:r>
              <a:t>db.delete(video); db.commit()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818CF8"/>
                </a:solidFill>
                <a:latin typeface="Arial"/>
              </a:defRPr>
            </a:pPr>
            <a:r>
              <a:t>System Verification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✅ Next.js Turbopack Production Compilation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Verified Next.js static page optimization. Builds in ~4 seconds with zero TypeScript or module resolution warnings.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✅ Python Backend Syntax Compile Health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Checked code validity for routing, worker pipeline, and LLM summarizer: 'py_compile' returns exit code 0.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✅ Auto-Ingestion Integration Success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Tested YouTube downloader on a short clip. Confirmed stream is saved and successfully transcoded to AAC format.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✅ Multi-Database Delete Verification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Checked PostgreSQL and MongoDB, verifying relational records and document collections are successfully cleaned on delete.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