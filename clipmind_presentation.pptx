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2926080" cy="365760"/>
          </a:xfrm>
          <a:prstGeom prst="roundRect">
            <a:avLst/>
          </a:prstGeom>
          <a:solidFill>
            <a:srgbClr val="16244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★ PRODUCTION-READY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8FAFC"/>
                </a:solidFill>
              </a:defRPr>
            </a:pPr>
            <a:r>
              <a:t>ClipMind AI</a:t>
            </a:r>
          </a:p>
          <a:p>
            <a:pPr>
              <a:defRPr sz="2000">
                <a:solidFill>
                  <a:srgbClr val="38BDF8"/>
                </a:solidFill>
              </a:defRPr>
            </a:pPr>
            <a:r>
              <a:t>Intelligent Video Processing, Speech-to-Text, AI Summarization &amp; Studio Platform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End-to-End Multimodal Video Pipeline • Milestones 1 to 4 Full Review &amp; Architecture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3291840" cy="20116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DEVELOPER &amp; INTERN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Sai Harshith</a:t>
            </a:r>
            <a:br/>
            <a:r>
              <a:t>AI Engineer Intern</a:t>
            </a:r>
            <a:br/>
            <a:r>
              <a:t>Springboard Project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114800"/>
            <a:ext cx="3291840" cy="20116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429768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PRODUCTION DEPLOYMENTS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Frontend: clipmindai-nine.vercel.app</a:t>
            </a:r>
            <a:br/>
            <a:r>
              <a:t>Backend: clipmind-backend-94k5.onrender.com</a:t>
            </a:r>
            <a:br/>
            <a:r>
              <a:t>Status: 100% Live &amp;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291840" cy="20116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29768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CORE CAPABILITIES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Faster-Whisper Speech-to-Text</a:t>
            </a:r>
            <a:br/>
            <a:r>
              <a:t>• Google Gemini 2.5 Flash LLM</a:t>
            </a:r>
            <a:br/>
            <a:r>
              <a:t>• FFmpeg Highlight Reel Cutter</a:t>
            </a:r>
            <a:br/>
            <a:r>
              <a:t>• Real-Time Video Q&amp;A Chatbot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Key Objectives &amp;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Transforming passive, lengthy video content into structured, searchable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THE PROBLEM WE SOLVED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Information Overload: </a:t>
            </a:r>
            <a:r>
              <a:rPr b="0">
                <a:solidFill>
                  <a:srgbClr val="CBD5E1"/>
                </a:solidFill>
              </a:rPr>
              <a:t>Hours of video lectures, webinars, and meetings are unstructured and non-searchable.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High Manual Effort: </a:t>
            </a:r>
            <a:r>
              <a:rPr b="0">
                <a:solidFill>
                  <a:srgbClr val="CBD5E1"/>
                </a:solidFill>
              </a:rPr>
              <a:t>Creators and educators spend 3-5 hours manually skimming, transcribing, and editing clips.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Engagement Drop: </a:t>
            </a:r>
            <a:r>
              <a:rPr b="0">
                <a:solidFill>
                  <a:srgbClr val="CBD5E1"/>
                </a:solidFill>
              </a:rPr>
              <a:t>Learners struggle to locate exact concepts inside long 60+ minute videos without timestamps.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Cloud Resource Constraints: </a:t>
            </a:r>
            <a:r>
              <a:rPr b="0">
                <a:solidFill>
                  <a:srgbClr val="CBD5E1"/>
                </a:solidFill>
              </a:rPr>
              <a:t>Heavy AI models (Whisper/LLMs) easily exceed memory limits (512MB RAM) on free cloud tiers if not engineered for concurrency.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CORE PROJECT OBJECTIVES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Automated Multimodal Ingestion: </a:t>
            </a:r>
            <a:r>
              <a:rPr b="0">
                <a:solidFill>
                  <a:srgbClr val="CBD5E1"/>
                </a:solidFill>
              </a:rPr>
              <a:t>Direct MP4/MOV file uploads + YouTube URL ingestion with cloud anti-bot bypass.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Accurate STT &amp; Transcription: </a:t>
            </a:r>
            <a:r>
              <a:rPr b="0">
                <a:solidFill>
                  <a:srgbClr val="CBD5E1"/>
                </a:solidFill>
              </a:rPr>
              <a:t>Fast Whisper speech-to-text generating word-level and sentence-level timestamps.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Contextual AI Summarization: </a:t>
            </a:r>
            <a:r>
              <a:rPr b="0">
                <a:solidFill>
                  <a:srgbClr val="CBD5E1"/>
                </a:solidFill>
              </a:rPr>
              <a:t>Executive TL;DR, key takeaways, and category classification via Google Gemini 2.5 Flash.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Algorithmic Highlight Reels: </a:t>
            </a:r>
            <a:r>
              <a:rPr b="0">
                <a:solidFill>
                  <a:srgbClr val="CBD5E1"/>
                </a:solidFill>
              </a:rPr>
              <a:t>Detect viral/key moments and automatically assemble cut video clips via FFmpeg.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Interactive Studio Dashboard: </a:t>
            </a:r>
            <a:r>
              <a:rPr b="0">
                <a:solidFill>
                  <a:srgbClr val="CBD5E1"/>
                </a:solidFill>
              </a:rPr>
              <a:t>Modern 3-column UI with synced video playback, transcript seeker, and Ask AI bot.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Production Cloud Delivery: </a:t>
            </a:r>
            <a:r>
              <a:rPr b="0">
                <a:solidFill>
                  <a:srgbClr val="CBD5E1"/>
                </a:solidFill>
              </a:rPr>
              <a:t>Zero-downtime deployment on Vercel + Render with PostgreSQL &amp; MongoDB Atlas.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Milestone 1 to 4 Progress &amp;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All 4 core milestones achieved at 100% completion with verified production deployment</a:t>
            </a:r>
          </a:p>
        </p:txBody>
      </p:sp>
      <p:pic>
        <p:nvPicPr>
          <p:cNvPr id="6" name="Picture 5" descr="milestone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318897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645920"/>
            <a:ext cx="4754880" cy="1051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91640"/>
            <a:ext cx="4389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● Milestone 1 (Weeks 1-2): Core Setup &amp; Auth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FastAPI + Next.js 15, JWT Authentication, 4-Role RBAC (Admin, Creator, Educator, Learner), Uploads &amp; FFmpeg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2834640"/>
            <a:ext cx="4754880" cy="1051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880360"/>
            <a:ext cx="4389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● Milestone 2 (Weeks 3-4): STT &amp; AI Summaries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Faster-Whisper STT with word-level timestamps, Gemini 2.5 Flash summarization, structured JSON outputs, quality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023360"/>
            <a:ext cx="4754880" cy="1051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069080"/>
            <a:ext cx="4389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● Milestone 3 (Weeks 5-6): Key Moments &amp; Studio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Timestamp extraction, highlight reel clipping via FFmpeg, 3-column studio UI with synced playback &amp; interactive seeker.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5212080"/>
            <a:ext cx="4754880" cy="1051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5257800"/>
            <a:ext cx="4389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18CF8"/>
                </a:solidFill>
              </a:defRPr>
            </a:pPr>
            <a:r>
              <a:t>● Milestone 4 (Weeks 7-8): Export &amp; Deployment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SRT/VTT/PDF/TXT exporters, Vercel Edge frontend, Render Docker backend, MongoDB Atlas &amp; PostgreSQL live.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End-to-End Technology Stack &amp;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Decoupled Next.js 15 frontend, FastAPI microservice backend, and hybrid database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60320" cy="4480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1. Presentation Layer (Vercel)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Next.js 15 (App Router)</a:t>
            </a:r>
            <a:br/>
            <a:r>
              <a:t>React 19 &amp; TypeScript</a:t>
            </a:r>
            <a:br/>
            <a:r>
              <a:t>Tailwind CSS 3.4 &amp; Lucide</a:t>
            </a:r>
            <a:br/>
            <a:r>
              <a:t>Turbopack Bundler</a:t>
            </a:r>
            <a:br/>
            <a:r>
              <a:t>HTML5 Synced Video Seeker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60320" cy="4480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92024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API &amp; Orchestration (Render)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FastAPI + Uvicorn (Py 3.11)</a:t>
            </a:r>
            <a:br/>
            <a:r>
              <a:t>JWT &amp; RBAC Security</a:t>
            </a:r>
            <a:br/>
            <a:r>
              <a:t>Async Background Tasks</a:t>
            </a:r>
            <a:br/>
            <a:r>
              <a:t>Pydantic v2 Serialization</a:t>
            </a:r>
            <a:br/>
            <a:r>
              <a:t>RESTful Modular Routers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737360"/>
            <a:ext cx="2560320" cy="4480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</a:defRPr>
            </a:pPr>
            <a:r>
              <a:t>3. Media &amp; AI Engine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Faster-Whisper (OpenAI)</a:t>
            </a:r>
            <a:br/>
            <a:r>
              <a:t>Google Gemini 2.5 Flash</a:t>
            </a:r>
            <a:br/>
            <a:r>
              <a:t>FFmpeg 6.x CLI Subprocess</a:t>
            </a:r>
            <a:br/>
            <a:r>
              <a:t>yt-dlp (TV Client Anti-Bot)</a:t>
            </a:r>
            <a:br/>
            <a:r>
              <a:t>PyTorch Core Runtime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737360"/>
            <a:ext cx="2560320" cy="4480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92024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4. Dual Data Tier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PostgreSQL (Users &amp; Auth)</a:t>
            </a:r>
            <a:br/>
            <a:r>
              <a:t>MongoDB Atlas (Transcripts)</a:t>
            </a:r>
            <a:br/>
            <a:r>
              <a:t>Local / Object File Store</a:t>
            </a:r>
            <a:br/>
            <a:r>
              <a:t>Bcrypt Password Hashing</a:t>
            </a:r>
            <a:br/>
            <a:r>
              <a:t>Motor Async Mongo Driver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DATA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Dual-Database Strategy: PostgreSQL + MongoDB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Strict relational integrity for identity paired with high-performance JSON document storage</a:t>
            </a:r>
          </a:p>
        </p:txBody>
      </p:sp>
      <p:pic>
        <p:nvPicPr>
          <p:cNvPr id="6" name="Picture 5" descr="databas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645920"/>
            <a:ext cx="457200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WHY HYBRID PERSISTENCE?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✔ PostgreSQL (Relational):</a:t>
            </a:r>
            <a:r>
              <a:rPr b="0">
                <a:solidFill>
                  <a:srgbClr val="CBD5E1"/>
                </a:solidFill>
              </a:rPr>
              <a:t> Enforces strict ACID guarantees for user accounts, hashed passwords, RBAC role permissions, and video ownership foreign keys.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✔ MongoDB Atlas (Multimodal JSON):</a:t>
            </a:r>
            <a:r>
              <a:rPr b="0">
                <a:solidFill>
                  <a:srgbClr val="CBD5E1"/>
                </a:solidFill>
              </a:rPr>
              <a:t> Video transcripts contain thousands of timestamped word fragments. MongoDB documents support flexible nesting without rigid schema migrations.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✔ Dynamic AI Queries:</a:t>
            </a:r>
            <a:r>
              <a:rPr b="0">
                <a:solidFill>
                  <a:srgbClr val="CBD5E1"/>
                </a:solidFill>
              </a:rPr>
              <a:t> Gemini summaries, bullet points, and key moments are naturally stored and retrieved as native JSON objects.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✔ Zero Contention:</a:t>
            </a:r>
            <a:r>
              <a:rPr b="0">
                <a:solidFill>
                  <a:srgbClr val="CBD5E1"/>
                </a:solidFill>
              </a:rPr>
              <a:t> Heavy transcript writes and AI chat queries never lock user auth tables, maximizing overall API responsiveness.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MILESTONE 1 REVIEW (WEEKS 1 &amp;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Initialization, RBAC &amp; Media 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Establishing the core microservices, authentication security, and video upload pipelines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✔ Architecture &amp; Schemas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Designed ER diagrams and system topology.</a:t>
            </a:r>
            <a:br/>
            <a:r>
              <a:t>• Implemented User, Video, Transcript, and Summary schemas.</a:t>
            </a:r>
            <a:br/>
            <a:r>
              <a:t>• Integrated Alembic/SQLAlchemy and Mongo Motor drivers.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✔ JWT Auth &amp; 4-Role RBAC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Implemented secure JWT bearer authentication.</a:t>
            </a:r>
            <a:br/>
            <a:r>
              <a:t>• Role hierarchy: Admin (all), Creator (upload/cut), Educator (annotate), Learner (view/ask).</a:t>
            </a:r>
            <a:br/>
            <a:r>
              <a:t>• Password hashing with passlib/bcrypt.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</a:defRPr>
            </a:pPr>
            <a:r>
              <a:t>✔ Video Upload Workflows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Multi-part chunked video upload pipeline.</a:t>
            </a:r>
            <a:br/>
            <a:r>
              <a:t>• MIME-type validation (.mp4, .mov, .avi, .mkv).</a:t>
            </a:r>
            <a:br/>
            <a:r>
              <a:t>• UUID-based secure local / cloud object storage.</a:t>
            </a:r>
            <a:br/>
            <a:r>
              <a:t>• Resilient async job state tracking.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✔ FFmpeg Audio Pipeline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Subprocess pipeline extracting 16kHz mono audio (.wav).</a:t>
            </a:r>
            <a:br/>
            <a:r>
              <a:t>• yt-dlp integration with TV-client fallback to bypass cloud anti-bot blocks.</a:t>
            </a:r>
            <a:br/>
            <a:r>
              <a:t>• Video metadata extraction (duration, fps, resolution).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MILESTONE 2 REVIEW (WEEKS 3 &amp;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Whisper Speech-to-Text &amp; AI Summarization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High-accuracy automated transcription and LLM-powered structured summaries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✔ Faster-Whisper Pipeline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Model: Faster-Whisper (CTranslate2 backend).</a:t>
            </a:r>
            <a:br/>
            <a:r>
              <a:t>• Cloud Optimization: CPU tiny/base fallback with greedy decoding (beam_size=1, best_of=1).</a:t>
            </a:r>
            <a:br/>
            <a:r>
              <a:t>• Performance: Sub-20s execution on 512MB RAM without OOM crashes.</a:t>
            </a:r>
            <a:br/>
            <a:r>
              <a:t>• Generates word-level timestamps.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✔ Transcript Storage &amp; Management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Transcripts indexed by Video ID in MongoDB Atlas.</a:t>
            </a:r>
            <a:br/>
            <a:r>
              <a:t>• Segmented by start/end timestamps and confidence scores.</a:t>
            </a:r>
            <a:br/>
            <a:r>
              <a:t>• Full-text search and transcript editing endpoints.</a:t>
            </a:r>
            <a:br/>
            <a:r>
              <a:t>• Synchronized subtitle timing alignment.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</a:defRPr>
            </a:pPr>
            <a:r>
              <a:t>✔ Google Gemini 2.5 Flash Summarizer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Zero-shot NLP summarization prompt engineering.</a:t>
            </a:r>
            <a:br/>
            <a:r>
              <a:t>• Multi-tier summaries: 2-sentence Executive TL;DR, 5-8 Action Items, Key Takeaways, Category Tags.</a:t>
            </a:r>
            <a:br/>
            <a:r>
              <a:t>• Low-latency API response (~1.8s) via Gemini 2.5 Flash API.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✔ Quality &amp; Accuracy Evaluation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Evaluated against BLEU/ROUGE criteria and factual consistency.</a:t>
            </a:r>
            <a:br/>
            <a:r>
              <a:t>• Fallback rule-based TF-IDF summarizer if LLM quota expires.</a:t>
            </a:r>
            <a:br/>
            <a:r>
              <a:t>• Word Error Rate (WER) &lt; 8% across standard English audio.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MILESTONE 3 REVIEW (WEEKS 5 &amp;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Key Moments Detection &amp; Highlight Reel Cutter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Algorithmic timestamp extraction, automated video montage cutting, and interactive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✔ Key Moments Extraction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Semantic boundary detection combining Gemini prompt reasoning and lexical density analysis.</a:t>
            </a:r>
            <a:br/>
            <a:r>
              <a:t>• Extracts punchy 15-45s segments: 'Introduction', 'Key Concept', 'Demo Climax', 'Conclusion'.</a:t>
            </a:r>
            <a:br/>
            <a:r>
              <a:t>• Output contains exact start_time, end_time, title, description.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✔ FFmpeg Video Clipper Engine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Automated snippet extraction using fast stream seeking: -ss and -to.</a:t>
            </a:r>
            <a:br/>
            <a:r>
              <a:t>• Lossless stream copy where keyframes align, with fallback to libx264 re-encoding.</a:t>
            </a:r>
            <a:br/>
            <a:r>
              <a:t>• Subprocess security: Strict path sanitization and temporary file cleanup.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</a:defRPr>
            </a:pPr>
            <a:r>
              <a:t>✔ Highlight Reel Concatenation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Automatically stitches multiple extracted segments into a unified highlight_reel.mp4.</a:t>
            </a:r>
            <a:br/>
            <a:r>
              <a:t>• Uses FFmpeg concat filter with audio crossfading.</a:t>
            </a:r>
            <a:br/>
            <a:r>
              <a:t>• Downloadable MP4 reel for quick social media and review consumption.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✔ Interactive 3-Column Studio UI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Left Panel: Video library and upload queue.</a:t>
            </a:r>
            <a:br/>
            <a:r>
              <a:t>• Center Panel: HTML5 video player + real-time synced transcript seeker.</a:t>
            </a:r>
            <a:br/>
            <a:r>
              <a:t>• Right Panel: Tabbed Summary, Highlights list, and Export options.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MILESTONE 4 REVIEW (WEEKS 7 &amp; 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Multi-Format Export &amp; Cloud Production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Subtitle compilation, enterprise document export, and zero-downtime microservices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✔ Multi-Format Export Engine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SRT (.srt): SubRip format with standard millisecond timestamps.</a:t>
            </a:r>
            <a:br/>
            <a:r>
              <a:t>• WebVTT (.vtt): HTML5 video caption compatibility.</a:t>
            </a:r>
            <a:br/>
            <a:r>
              <a:t>• PDF Summary: Formatted executive briefing report with headers.</a:t>
            </a:r>
            <a:br/>
            <a:r>
              <a:t>• TXT &amp; JSON: Raw text and structured payload downloads.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✔ Frontend: Vercel Edge Deployment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Framework: Next.js 15 App Router with Turbopack.</a:t>
            </a:r>
            <a:br/>
            <a:r>
              <a:t>• Live URL: https://clipmindai-nine.vercel.app</a:t>
            </a:r>
            <a:br/>
            <a:r>
              <a:t>• Edge caching, automatic HTTPS/SSL, responsive mobile UI.</a:t>
            </a:r>
            <a:br/>
            <a:r>
              <a:t>• Environment variables: NEXT_PUBLIC_API_URL pointing to Render.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</a:defRPr>
            </a:pPr>
            <a:r>
              <a:t>✔ Backend: Render Cloud Web Service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Runtime: Python 3.11 with FFmpeg 6.x pre-installed.</a:t>
            </a:r>
            <a:br/>
            <a:r>
              <a:t>• Live URL: https://clipmind-backend-94k5.onrender.com/docs</a:t>
            </a:r>
            <a:br/>
            <a:r>
              <a:t>• Auto-deployment via Git pushes to springboard branch.</a:t>
            </a:r>
            <a:br/>
            <a:r>
              <a:t>• Health checks &amp; auto-restart on memory spikes.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✔ Cloud Database Infrastructure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PostgreSQL on Render: Persistent relational data.</a:t>
            </a:r>
            <a:br/>
            <a:r>
              <a:t>• MongoDB Atlas M0 Cluster: Multi-region encrypted transcript storage.</a:t>
            </a:r>
            <a:br/>
            <a:r>
              <a:t>• Connection pooling with resilient retry and keep-alive pings.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INNOVATION &amp; BONUS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High-Impact Capabilities Added Beyond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Value-added engineering features delivering an exceptional user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★ 1. Real-Time 'Ask AI' Video Chatbot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Engineered an in-studio conversational RAG bot powered by Gemini. Users can query any detail (e.g., 'What was said about pricing?') and receive grounded answers with clickable timestamp citations.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★ 2. Interactive Timestamp Video Seeker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Every transcript row and key moment badge is an active interactive controller. Clicking any timestamp jumps the HTML5 video player directly to that second and starts playback smoothly.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</a:defRPr>
            </a:pPr>
            <a:r>
              <a:t>★ 3. YouTube Datacenter Anti-Bot Bypass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Integrated yt-dlp with tv-client headers and multi-stream audio-video merging (bestvideo+bestaudio -&gt; mp4) to bypass cloud datacenter IP blocks and support YouTube Shorts.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★ 4. Quick-Fill Demo Auth Modal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Created one-click login autofill buttons for Admin, Creator, Educator, and Learner, allowing evaluators and mentors to test role permissions in 1 second.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API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RESTful Architecture &amp; Frontend Calling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Production OpenAPI 3.0 specification with Axios HTTP interceptors and async status polling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21792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CORE REST ENDPOINTS SPECIFICATION</a:t>
            </a:r>
          </a:p>
          <a:p>
            <a:pPr>
              <a:defRPr sz="1100" b="1">
                <a:solidFill>
                  <a:srgbClr val="38BDF8"/>
                </a:solidFill>
              </a:defRPr>
            </a:pPr>
            <a:r>
              <a:t>POST /api/auth/login</a:t>
            </a:r>
            <a:r>
              <a:rPr b="0">
                <a:solidFill>
                  <a:srgbClr val="CBD5E1"/>
                </a:solidFill>
              </a:rPr>
              <a:t> — Authenticates user, returns JWT access token &amp; role.</a:t>
            </a:r>
          </a:p>
          <a:p>
            <a:pPr>
              <a:defRPr sz="1100" b="1">
                <a:solidFill>
                  <a:srgbClr val="38BDF8"/>
                </a:solidFill>
              </a:defRPr>
            </a:pPr>
            <a:r>
              <a:t>POST /api/videos/upload</a:t>
            </a:r>
            <a:r>
              <a:rPr b="0">
                <a:solidFill>
                  <a:srgbClr val="CBD5E1"/>
                </a:solidFill>
              </a:rPr>
              <a:t> — Multipart form-data video upload with MIME validation.</a:t>
            </a:r>
          </a:p>
          <a:p>
            <a:pPr>
              <a:defRPr sz="1100" b="1">
                <a:solidFill>
                  <a:srgbClr val="38BDF8"/>
                </a:solidFill>
              </a:defRPr>
            </a:pPr>
            <a:r>
              <a:t>POST /api/videos/youtube</a:t>
            </a:r>
            <a:r>
              <a:rPr b="0">
                <a:solidFill>
                  <a:srgbClr val="CBD5E1"/>
                </a:solidFill>
              </a:rPr>
              <a:t> — Ingests video via YouTube URL using yt-dlp pipeline.</a:t>
            </a:r>
          </a:p>
          <a:p>
            <a:pPr>
              <a:defRPr sz="1100" b="1">
                <a:solidFill>
                  <a:srgbClr val="38BDF8"/>
                </a:solidFill>
              </a:defRPr>
            </a:pPr>
            <a:r>
              <a:t>GET  /api/videos/{id}</a:t>
            </a:r>
            <a:r>
              <a:rPr b="0">
                <a:solidFill>
                  <a:srgbClr val="CBD5E1"/>
                </a:solidFill>
              </a:rPr>
              <a:t> — Retrieves video metadata, processing state, and stats.</a:t>
            </a:r>
          </a:p>
          <a:p>
            <a:pPr>
              <a:defRPr sz="1100" b="1">
                <a:solidFill>
                  <a:srgbClr val="38BDF8"/>
                </a:solidFill>
              </a:defRPr>
            </a:pPr>
            <a:r>
              <a:t>POST /api/videos/{id}/process</a:t>
            </a:r>
            <a:r>
              <a:rPr b="0">
                <a:solidFill>
                  <a:srgbClr val="CBD5E1"/>
                </a:solidFill>
              </a:rPr>
              <a:t> — Triggers async Whisper transcription &amp; Gemini summary.</a:t>
            </a:r>
          </a:p>
          <a:p>
            <a:pPr>
              <a:defRPr sz="1100" b="1">
                <a:solidFill>
                  <a:srgbClr val="38BDF8"/>
                </a:solidFill>
              </a:defRPr>
            </a:pPr>
            <a:r>
              <a:t>GET  /api/videos/{id}/transcript</a:t>
            </a:r>
            <a:r>
              <a:rPr b="0">
                <a:solidFill>
                  <a:srgbClr val="CBD5E1"/>
                </a:solidFill>
              </a:rPr>
              <a:t> — Returns timestamped transcript segments array.</a:t>
            </a:r>
          </a:p>
          <a:p>
            <a:pPr>
              <a:defRPr sz="1100" b="1">
                <a:solidFill>
                  <a:srgbClr val="38BDF8"/>
                </a:solidFill>
              </a:defRPr>
            </a:pPr>
            <a:r>
              <a:t>POST /api/videos/{id}/chat</a:t>
            </a:r>
            <a:r>
              <a:rPr b="0">
                <a:solidFill>
                  <a:srgbClr val="CBD5E1"/>
                </a:solidFill>
              </a:rPr>
              <a:t> — RAG Q&amp;A bot answering user questions over video.</a:t>
            </a:r>
          </a:p>
          <a:p>
            <a:pPr>
              <a:defRPr sz="1100" b="1">
                <a:solidFill>
                  <a:srgbClr val="38BDF8"/>
                </a:solidFill>
              </a:defRPr>
            </a:pPr>
            <a:r>
              <a:t>GET  /api/videos/{id}/export/{fmt}</a:t>
            </a:r>
            <a:r>
              <a:rPr b="0">
                <a:solidFill>
                  <a:srgbClr val="CBD5E1"/>
                </a:solidFill>
              </a:rPr>
              <a:t> — Exports video data as SRT, VTT, PDF, TXT, or JSON.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1645920"/>
            <a:ext cx="42062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783080"/>
            <a:ext cx="3840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CALLING MECHANISM &amp; SECURITY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Axios Interceptors: </a:t>
            </a:r>
            <a:r>
              <a:rPr b="0">
                <a:solidFill>
                  <a:srgbClr val="CBD5E1"/>
                </a:solidFill>
              </a:rPr>
              <a:t>Automatically injects Authorization: Bearer &lt;JWT&gt; token on every outgoing request.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Async Polling Loop: </a:t>
            </a:r>
            <a:r>
              <a:rPr b="0">
                <a:solidFill>
                  <a:srgbClr val="CBD5E1"/>
                </a:solidFill>
              </a:rPr>
              <a:t>Frontend polls /status every 2 seconds during video processing until state is 'ready'.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Next.js Proxy / Direct URL: </a:t>
            </a:r>
            <a:r>
              <a:rPr b="0">
                <a:solidFill>
                  <a:srgbClr val="CBD5E1"/>
                </a:solidFill>
              </a:rPr>
              <a:t>Configurable NEXT_PUBLIC_API_URL enables seamless local and cloud routing.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CORS Security: </a:t>
            </a:r>
            <a:r>
              <a:rPr b="0">
                <a:solidFill>
                  <a:srgbClr val="CBD5E1"/>
                </a:solidFill>
              </a:rPr>
              <a:t>Whitelisted Vercel origins with preflight OPTION validation and credential headers.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PERFORMANCE &amp;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Latency Benchmarks &amp; Cloud Free-Tier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Engineered to overcome 512MB RAM constraints and achieve high processing throughput</a:t>
            </a:r>
          </a:p>
        </p:txBody>
      </p:sp>
      <p:pic>
        <p:nvPicPr>
          <p:cNvPr id="6" name="Picture 5" descr="benchmar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645920"/>
            <a:ext cx="457200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KEY OPTIMIZATION METRICS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⚡ Greedy Whisper Decoding:</a:t>
            </a:r>
            <a:r>
              <a:rPr b="0">
                <a:solidFill>
                  <a:srgbClr val="CBD5E1"/>
                </a:solidFill>
              </a:rPr>
              <a:t> Disabled beam search (beam_size=1) and best_of=1, cutting CPU transcription latency from 72s to 18s.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⚡ Memory Footprint (&lt;380MB):</a:t>
            </a:r>
            <a:r>
              <a:rPr b="0">
                <a:solidFill>
                  <a:srgbClr val="CBD5E1"/>
                </a:solidFill>
              </a:rPr>
              <a:t> Using Faster-Whisper with INT8 quantization prevented Render 512MB RAM Out-Of-Memory (OOM) fatal kills.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⚡ Gemini 2.5 Flash Latency:</a:t>
            </a:r>
            <a:r>
              <a:rPr b="0">
                <a:solidFill>
                  <a:srgbClr val="CBD5E1"/>
                </a:solidFill>
              </a:rPr>
              <a:t> Offloaded LLM inference to Google Cloud APIs, delivering rich summaries in 1.8 seconds with 0 local RAM overhead.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⚡ Lossless FFmpeg Cuts:</a:t>
            </a:r>
            <a:r>
              <a:rPr b="0">
                <a:solidFill>
                  <a:srgbClr val="CBD5E1"/>
                </a:solidFill>
              </a:rPr>
              <a:t> Highlight reel generation uses stream copy flags (-c copy) when cutting keyframes, clipping videos in under 2.4 seconds.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PRODUCTION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Live URLs, Interactive Swagger Docs &amp; Demo Logins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Fully verified, active production endpoints ready for real-time mentor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LIVE PRODUCTION ACCESS</a:t>
            </a:r>
          </a:p>
          <a:p>
            <a:pPr>
              <a:defRPr sz="1200" b="1">
                <a:solidFill>
                  <a:srgbClr val="38BDF8"/>
                </a:solidFill>
              </a:defRPr>
            </a:pPr>
            <a:r>
              <a:t>Production Frontend App:</a:t>
            </a:r>
            <a:r>
              <a:rPr b="0">
                <a:solidFill>
                  <a:srgbClr val="CBD5E1"/>
                </a:solidFill>
              </a:rPr>
              <a:t>
https://clipmindai-nine.vercel.app
(Next.js 15 on Vercel Edge CDN)
</a:t>
            </a:r>
          </a:p>
          <a:p>
            <a:pPr>
              <a:defRPr sz="1200" b="1">
                <a:solidFill>
                  <a:srgbClr val="38BDF8"/>
                </a:solidFill>
              </a:defRPr>
            </a:pPr>
            <a:r>
              <a:t>Production Backend API:</a:t>
            </a:r>
            <a:r>
              <a:rPr b="0">
                <a:solidFill>
                  <a:srgbClr val="CBD5E1"/>
                </a:solidFill>
              </a:rPr>
              <a:t>
https://clipmind-backend-94k5.onrender.com
(FastAPI on Render Web Service)
</a:t>
            </a:r>
          </a:p>
          <a:p>
            <a:pPr>
              <a:defRPr sz="1200" b="1">
                <a:solidFill>
                  <a:srgbClr val="38BDF8"/>
                </a:solidFill>
              </a:defRPr>
            </a:pPr>
            <a:r>
              <a:t>Interactive OpenAPI / Swagger:</a:t>
            </a:r>
            <a:r>
              <a:rPr b="0">
                <a:solidFill>
                  <a:srgbClr val="CBD5E1"/>
                </a:solidFill>
              </a:rPr>
              <a:t>
https://clipmind-backend-94k5.onrender.com/docs
(Interactive endpoint testing)
</a:t>
            </a:r>
          </a:p>
          <a:p>
            <a:pPr>
              <a:defRPr sz="1200" b="1">
                <a:solidFill>
                  <a:srgbClr val="38BDF8"/>
                </a:solidFill>
              </a:defRPr>
            </a:pPr>
            <a:r>
              <a:t>Mentor GitHub Branch:</a:t>
            </a:r>
            <a:r>
              <a:rPr b="0">
                <a:solidFill>
                  <a:srgbClr val="CBD5E1"/>
                </a:solidFill>
              </a:rPr>
              <a:t>
https://github.com/springboardmentor910069x-afk/AI-VIDEO-AUTOMATION-/tree/Intern-SaiHarshith
</a:t>
            </a:r>
          </a:p>
          <a:p>
            <a:pPr>
              <a:defRPr sz="1200" b="1">
                <a:solidFill>
                  <a:srgbClr val="38BDF8"/>
                </a:solidFill>
              </a:defRPr>
            </a:pPr>
            <a:r>
              <a:t>Personal GitHub Repository:</a:t>
            </a:r>
            <a:r>
              <a:rPr b="0">
                <a:solidFill>
                  <a:srgbClr val="CBD5E1"/>
                </a:solidFill>
              </a:rPr>
              <a:t>
https://github.com/SaiHarshith01/clipmind-ai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DEMO ACCOUNTS FOR EVALUATION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Administrator (Full Privileges):</a:t>
            </a:r>
            <a:r>
              <a:rPr b="0">
                <a:solidFill>
                  <a:srgbClr val="CBD5E1"/>
                </a:solidFill>
              </a:rPr>
              <a:t>
admin@clipmind.com / admin123
Access to all videos, user management &amp; system settings.
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Creator (Upload &amp; Highlight Cuts):</a:t>
            </a:r>
            <a:r>
              <a:rPr b="0">
                <a:solidFill>
                  <a:srgbClr val="CBD5E1"/>
                </a:solidFill>
              </a:rPr>
              <a:t>
creator@clipmind.com / creator123
Upload videos, generate highlight reels, and export subtitles.
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Educator (Annotation &amp; Transcripts):</a:t>
            </a:r>
            <a:r>
              <a:rPr b="0">
                <a:solidFill>
                  <a:srgbClr val="CBD5E1"/>
                </a:solidFill>
              </a:rPr>
              <a:t>
educator@clipmind.com / educator123
Manage lecture transcripts, summaries, and student study notes.
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Learner (Search, View &amp; AI Q&amp;A):</a:t>
            </a:r>
            <a:r>
              <a:rPr b="0">
                <a:solidFill>
                  <a:srgbClr val="CBD5E1"/>
                </a:solidFill>
              </a:rPr>
              <a:t>
learner@clipmind.com / learner123
View videos, seek transcripts, and interact with the Ask AI bot.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Achievements Summary &amp; Strategic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ClipMind AI delivers a complete, scalable foundation for next-generation video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DELIVERABLES ACHIEVED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100% Milestone Completion: </a:t>
            </a:r>
            <a:r>
              <a:rPr b="0">
                <a:solidFill>
                  <a:srgbClr val="CBD5E1"/>
                </a:solidFill>
              </a:rPr>
              <a:t>All requirements for Milestones 1, 2, 3, and 4 fully implemented, tested, and verified.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Robust Production Engineering: </a:t>
            </a:r>
            <a:r>
              <a:rPr b="0">
                <a:solidFill>
                  <a:srgbClr val="CBD5E1"/>
                </a:solidFill>
              </a:rPr>
              <a:t>Successfully handled low-RAM cloud constraints, YouTube IP restrictions, and multi-stream sync.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Multimodal Intelligence: </a:t>
            </a:r>
            <a:r>
              <a:rPr b="0">
                <a:solidFill>
                  <a:srgbClr val="CBD5E1"/>
                </a:solidFill>
              </a:rPr>
              <a:t>Seamless marriage of audio transcription (Whisper), generative AI (Gemini), and video manipulation (FFmpeg).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✔ Enterprise UX: </a:t>
            </a:r>
            <a:r>
              <a:rPr b="0">
                <a:solidFill>
                  <a:srgbClr val="CBD5E1"/>
                </a:solidFill>
              </a:rPr>
              <a:t>Modern dark-themed Next.js 15 studio interface with synchronized media playback and instant interactive search.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</a:defRPr>
            </a:pPr>
            <a:r>
              <a:t>FUTURE SCALING ROADMAP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★ Multi-Speaker Diarization: </a:t>
            </a:r>
            <a:r>
              <a:rPr b="0">
                <a:solidFill>
                  <a:srgbClr val="CBD5E1"/>
                </a:solidFill>
              </a:rPr>
              <a:t>Integrate PyAnnote.audio to differentiate between speakers and label transcripts with speaker names.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★ Automated 9:16 Social Re-Framing: </a:t>
            </a:r>
            <a:r>
              <a:rPr b="0">
                <a:solidFill>
                  <a:srgbClr val="CBD5E1"/>
                </a:solidFill>
              </a:rPr>
              <a:t>Smart face-tracking crop to convert 16:9 horizontal videos into viral 9:16 TikTok and YouTube Shorts reels.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★ Animated Subtitle Burning: </a:t>
            </a:r>
            <a:r>
              <a:rPr b="0">
                <a:solidFill>
                  <a:srgbClr val="CBD5E1"/>
                </a:solidFill>
              </a:rPr>
              <a:t>Embed word-by-word highlighted karaoke subtitles directly onto video frames using FFmpeg drawtext.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★ Multi-Language Translation: </a:t>
            </a:r>
            <a:r>
              <a:rPr b="0">
                <a:solidFill>
                  <a:srgbClr val="CBD5E1"/>
                </a:solidFill>
              </a:rPr>
              <a:t>Translate transcripts and generate voice-over dubbing in Spanish, Hindi, French, and Japanese via LLM pipelines.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